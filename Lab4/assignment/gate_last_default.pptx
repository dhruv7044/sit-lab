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"/>
  </p:notesMasterIdLst>
  <p:handoutMasterIdLst>
    <p:handoutMasterId r:id="rId3"/>
  </p:handout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0" r:id="rId24"/>
    <p:sldId id="271" r:id="rId25"/>
    <p:sldId id="272" r:id="rId26"/>
    <p:sldId id="273" r:id="rId27"/>
    <p:sldId id="274" r:id="rId28"/>
    <p:sldId id="275" r:id="rId29"/>
    <p:sldId id="276" r:id="rId30"/>
    <p:sldId id="277" r:id="rId31"/>
    <p:sldId id="278" r:id="rId32"/>
    <p:sldId id="279" r:id="rId33"/>
    <p:sldId id="280" r:id="rId34"/>
    <p:sldId id="281" r:id="rId35"/>
    <p:sldId id="282" r:id="rId36"/>
    <p:sldId id="283" r:id="rId37"/>
    <p:sldId id="284" r:id="rId38"/>
    <p:sldId id="285" r:id="rId39"/>
    <p:sldId id="286" r:id="rId40"/>
    <p:sldId id="287" r:id="rId41"/>
    <p:sldId id="288" r:id="rId42"/>
    <p:sldId id="289" r:id="rId43"/>
    <p:sldId id="290" r:id="rId44"/>
    <p:sldId id="291" r:id="rId45"/>
    <p:sldId id="292" r:id="rId46"/>
    <p:sldId id="293" r:id="rId47"/>
    <p:sldId id="294" r:id="rId48"/>
    <p:sldId id="295" r:id="rId49"/>
    <p:sldId id="296" r:id="rId50"/>
    <p:sldId id="297" r:id="rId51"/>
    <p:sldId id="298" r:id="rId52"/>
    <p:sldId id="299" r:id="rId53"/>
  </p:sldIdLst>
  <p:sldSz cx="9144000" cy="6858000" type="screen4x3"/>
  <p:notesSz cx="6858000" cy="90678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9">
          <p15:clr>
            <a:srgbClr val="A4A3A4"/>
          </p15:clr>
        </p15:guide>
        <p15:guide id="2" pos="29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un Yan" initials="JY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5BA8"/>
    <a:srgbClr val="1683C4"/>
    <a:srgbClr val="1F5EAD"/>
    <a:srgbClr val="000062"/>
    <a:srgbClr val="223799"/>
    <a:srgbClr val="2F4394"/>
    <a:srgbClr val="4252A7"/>
    <a:srgbClr val="283FAC"/>
    <a:srgbClr val="4A7EBB"/>
    <a:srgbClr val="2962A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810" autoAdjust="0"/>
    <p:restoredTop sz="85776" autoAdjust="0"/>
  </p:normalViewPr>
  <p:slideViewPr>
    <p:cSldViewPr snapToGrid="0" showGuides="1">
      <p:cViewPr varScale="1">
        <p:scale>
          <a:sx n="54" d="100"/>
          <a:sy n="54" d="100"/>
        </p:scale>
        <p:origin x="1692" y="72"/>
      </p:cViewPr>
      <p:guideLst>
        <p:guide orient="horz" pos="2119"/>
        <p:guide pos="29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68" d="100"/>
          <a:sy n="68" d="100"/>
        </p:scale>
        <p:origin x="2802" y="72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" Type="http://schemas.openxmlformats.org/officeDocument/2006/relationships/notesMaster" Target="notesMasters/notesMaster1.xml"/><Relationship Id="rId20" Type="http://schemas.openxmlformats.org/officeDocument/2006/relationships/slide" Target="slides/slide11.xml"/><Relationship Id="rId21" Type="http://schemas.openxmlformats.org/officeDocument/2006/relationships/slide" Target="slides/slide12.xml"/><Relationship Id="rId22" Type="http://schemas.openxmlformats.org/officeDocument/2006/relationships/slide" Target="slides/slide13.xml"/><Relationship Id="rId23" Type="http://schemas.openxmlformats.org/officeDocument/2006/relationships/slide" Target="slides/slide14.xml"/><Relationship Id="rId24" Type="http://schemas.openxmlformats.org/officeDocument/2006/relationships/slide" Target="slides/slide15.xml"/><Relationship Id="rId25" Type="http://schemas.openxmlformats.org/officeDocument/2006/relationships/slide" Target="slides/slide16.xml"/><Relationship Id="rId26" Type="http://schemas.openxmlformats.org/officeDocument/2006/relationships/slide" Target="slides/slide17.xml"/><Relationship Id="rId27" Type="http://schemas.openxmlformats.org/officeDocument/2006/relationships/slide" Target="slides/slide18.xml"/><Relationship Id="rId28" Type="http://schemas.openxmlformats.org/officeDocument/2006/relationships/slide" Target="slides/slide19.xml"/><Relationship Id="rId29" Type="http://schemas.openxmlformats.org/officeDocument/2006/relationships/slide" Target="slides/slide20.xml"/><Relationship Id="rId3" Type="http://schemas.openxmlformats.org/officeDocument/2006/relationships/handoutMaster" Target="handoutMasters/handoutMaster1.xml"/><Relationship Id="rId30" Type="http://schemas.openxmlformats.org/officeDocument/2006/relationships/slide" Target="slides/slide21.xml"/><Relationship Id="rId31" Type="http://schemas.openxmlformats.org/officeDocument/2006/relationships/slide" Target="slides/slide22.xml"/><Relationship Id="rId32" Type="http://schemas.openxmlformats.org/officeDocument/2006/relationships/slide" Target="slides/slide23.xml"/><Relationship Id="rId33" Type="http://schemas.openxmlformats.org/officeDocument/2006/relationships/slide" Target="slides/slide24.xml"/><Relationship Id="rId34" Type="http://schemas.openxmlformats.org/officeDocument/2006/relationships/slide" Target="slides/slide25.xml"/><Relationship Id="rId35" Type="http://schemas.openxmlformats.org/officeDocument/2006/relationships/slide" Target="slides/slide26.xml"/><Relationship Id="rId36" Type="http://schemas.openxmlformats.org/officeDocument/2006/relationships/slide" Target="slides/slide27.xml"/><Relationship Id="rId37" Type="http://schemas.openxmlformats.org/officeDocument/2006/relationships/slide" Target="slides/slide28.xml"/><Relationship Id="rId38" Type="http://schemas.openxmlformats.org/officeDocument/2006/relationships/slide" Target="slides/slide29.xml"/><Relationship Id="rId39" Type="http://schemas.openxmlformats.org/officeDocument/2006/relationships/slide" Target="slides/slide30.xml"/><Relationship Id="rId4" Type="http://schemas.openxmlformats.org/officeDocument/2006/relationships/commentAuthors" Target="commentAuthors.xml"/><Relationship Id="rId40" Type="http://schemas.openxmlformats.org/officeDocument/2006/relationships/slide" Target="slides/slide31.xml"/><Relationship Id="rId41" Type="http://schemas.openxmlformats.org/officeDocument/2006/relationships/slide" Target="slides/slide32.xml"/><Relationship Id="rId42" Type="http://schemas.openxmlformats.org/officeDocument/2006/relationships/slide" Target="slides/slide33.xml"/><Relationship Id="rId43" Type="http://schemas.openxmlformats.org/officeDocument/2006/relationships/slide" Target="slides/slide34.xml"/><Relationship Id="rId44" Type="http://schemas.openxmlformats.org/officeDocument/2006/relationships/slide" Target="slides/slide35.xml"/><Relationship Id="rId45" Type="http://schemas.openxmlformats.org/officeDocument/2006/relationships/slide" Target="slides/slide36.xml"/><Relationship Id="rId46" Type="http://schemas.openxmlformats.org/officeDocument/2006/relationships/slide" Target="slides/slide37.xml"/><Relationship Id="rId47" Type="http://schemas.openxmlformats.org/officeDocument/2006/relationships/slide" Target="slides/slide38.xml"/><Relationship Id="rId48" Type="http://schemas.openxmlformats.org/officeDocument/2006/relationships/slide" Target="slides/slide39.xml"/><Relationship Id="rId49" Type="http://schemas.openxmlformats.org/officeDocument/2006/relationships/slide" Target="slides/slide40.xml"/><Relationship Id="rId5" Type="http://schemas.openxmlformats.org/officeDocument/2006/relationships/presProps" Target="presProps.xml"/><Relationship Id="rId50" Type="http://schemas.openxmlformats.org/officeDocument/2006/relationships/slide" Target="slides/slide41.xml"/><Relationship Id="rId51" Type="http://schemas.openxmlformats.org/officeDocument/2006/relationships/slide" Target="slides/slide42.xml"/><Relationship Id="rId52" Type="http://schemas.openxmlformats.org/officeDocument/2006/relationships/slide" Target="slides/slide43.xml"/><Relationship Id="rId53" Type="http://schemas.openxmlformats.org/officeDocument/2006/relationships/slide" Target="slides/slide44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microsoft.com/office/2015/10/relationships/revisionInfo" Target="revisionInfo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339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339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B7E3E9-3A1E-4098-80EF-7682AF34C971}" type="datetimeFigureOut">
              <a:rPr lang="en-US" smtClean="0"/>
              <a:t>5/29/2018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12836"/>
            <a:ext cx="2971800" cy="4533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12836"/>
            <a:ext cx="2971800" cy="4533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5FB8F5-2247-450D-B13A-B7A853389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329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339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339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E74B063E-2DE8-46D6-A686-B4D349703391}" type="datetimeFigureOut">
              <a:rPr lang="en-US"/>
              <a:pPr>
                <a:defRPr/>
              </a:pPr>
              <a:t>5/29/2018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62050" y="679450"/>
            <a:ext cx="4533900" cy="34004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07205"/>
            <a:ext cx="5486400" cy="40805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12836"/>
            <a:ext cx="2971800" cy="4533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12836"/>
            <a:ext cx="2971800" cy="4533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F1FD9633-A6A3-40B8-ABAA-AECB0954B64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97673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952" y="59267"/>
            <a:ext cx="5538248" cy="55647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1"/>
          </p:nvPr>
        </p:nvSpPr>
        <p:spPr>
          <a:xfrm>
            <a:off x="252952" y="5701835"/>
            <a:ext cx="8637314" cy="892396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1E5BA8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Picture Placeholder 2"/>
          <p:cNvSpPr>
            <a:spLocks noGrp="1"/>
          </p:cNvSpPr>
          <p:nvPr>
            <p:ph type="pic" idx="1"/>
          </p:nvPr>
        </p:nvSpPr>
        <p:spPr>
          <a:xfrm>
            <a:off x="252952" y="909536"/>
            <a:ext cx="8637314" cy="4698460"/>
          </a:xfrm>
          <a:prstGeom prst="rect">
            <a:avLst/>
          </a:prstGeom>
        </p:spPr>
        <p:txBody>
          <a:bodyPr tIns="274320">
            <a:no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D0A88FA-E79D-48A7-BAD1-6EFE976F480A}"/>
              </a:ext>
            </a:extLst>
          </p:cNvPr>
          <p:cNvSpPr/>
          <p:nvPr userDrawn="1"/>
        </p:nvSpPr>
        <p:spPr>
          <a:xfrm>
            <a:off x="0" y="-8626"/>
            <a:ext cx="6944263" cy="719667"/>
          </a:xfrm>
          <a:custGeom>
            <a:avLst/>
            <a:gdLst>
              <a:gd name="connsiteX0" fmla="*/ 0 w 6676845"/>
              <a:gd name="connsiteY0" fmla="*/ 0 h 719667"/>
              <a:gd name="connsiteX1" fmla="*/ 6676845 w 6676845"/>
              <a:gd name="connsiteY1" fmla="*/ 0 h 719667"/>
              <a:gd name="connsiteX2" fmla="*/ 6676845 w 6676845"/>
              <a:gd name="connsiteY2" fmla="*/ 719667 h 719667"/>
              <a:gd name="connsiteX3" fmla="*/ 0 w 6676845"/>
              <a:gd name="connsiteY3" fmla="*/ 719667 h 719667"/>
              <a:gd name="connsiteX4" fmla="*/ 0 w 6676845"/>
              <a:gd name="connsiteY4" fmla="*/ 0 h 719667"/>
              <a:gd name="connsiteX0" fmla="*/ 0 w 6676845"/>
              <a:gd name="connsiteY0" fmla="*/ 0 h 719667"/>
              <a:gd name="connsiteX1" fmla="*/ 6676845 w 6676845"/>
              <a:gd name="connsiteY1" fmla="*/ 0 h 719667"/>
              <a:gd name="connsiteX2" fmla="*/ 6357668 w 6676845"/>
              <a:gd name="connsiteY2" fmla="*/ 719667 h 719667"/>
              <a:gd name="connsiteX3" fmla="*/ 0 w 6676845"/>
              <a:gd name="connsiteY3" fmla="*/ 719667 h 719667"/>
              <a:gd name="connsiteX4" fmla="*/ 0 w 6676845"/>
              <a:gd name="connsiteY4" fmla="*/ 0 h 719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76845" h="719667">
                <a:moveTo>
                  <a:pt x="0" y="0"/>
                </a:moveTo>
                <a:lnTo>
                  <a:pt x="6676845" y="0"/>
                </a:lnTo>
                <a:lnTo>
                  <a:pt x="6357668" y="719667"/>
                </a:lnTo>
                <a:lnTo>
                  <a:pt x="0" y="719667"/>
                </a:lnTo>
                <a:lnTo>
                  <a:pt x="0" y="0"/>
                </a:lnTo>
                <a:close/>
              </a:path>
            </a:pathLst>
          </a:custGeom>
          <a:solidFill>
            <a:srgbClr val="1683C4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dirty="0" err="1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6E743A5E-BA21-475D-8D66-27653E643055}"/>
              </a:ext>
            </a:extLst>
          </p:cNvPr>
          <p:cNvSpPr/>
          <p:nvPr userDrawn="1"/>
        </p:nvSpPr>
        <p:spPr>
          <a:xfrm>
            <a:off x="-8626" y="-8626"/>
            <a:ext cx="6449684" cy="719667"/>
          </a:xfrm>
          <a:custGeom>
            <a:avLst/>
            <a:gdLst>
              <a:gd name="connsiteX0" fmla="*/ 0 w 6676845"/>
              <a:gd name="connsiteY0" fmla="*/ 0 h 719667"/>
              <a:gd name="connsiteX1" fmla="*/ 6676845 w 6676845"/>
              <a:gd name="connsiteY1" fmla="*/ 0 h 719667"/>
              <a:gd name="connsiteX2" fmla="*/ 6676845 w 6676845"/>
              <a:gd name="connsiteY2" fmla="*/ 719667 h 719667"/>
              <a:gd name="connsiteX3" fmla="*/ 0 w 6676845"/>
              <a:gd name="connsiteY3" fmla="*/ 719667 h 719667"/>
              <a:gd name="connsiteX4" fmla="*/ 0 w 6676845"/>
              <a:gd name="connsiteY4" fmla="*/ 0 h 719667"/>
              <a:gd name="connsiteX0" fmla="*/ 0 w 6676845"/>
              <a:gd name="connsiteY0" fmla="*/ 0 h 719667"/>
              <a:gd name="connsiteX1" fmla="*/ 6676845 w 6676845"/>
              <a:gd name="connsiteY1" fmla="*/ 0 h 719667"/>
              <a:gd name="connsiteX2" fmla="*/ 6357668 w 6676845"/>
              <a:gd name="connsiteY2" fmla="*/ 719667 h 719667"/>
              <a:gd name="connsiteX3" fmla="*/ 0 w 6676845"/>
              <a:gd name="connsiteY3" fmla="*/ 719667 h 719667"/>
              <a:gd name="connsiteX4" fmla="*/ 0 w 6676845"/>
              <a:gd name="connsiteY4" fmla="*/ 0 h 719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76845" h="719667">
                <a:moveTo>
                  <a:pt x="0" y="0"/>
                </a:moveTo>
                <a:lnTo>
                  <a:pt x="6676845" y="0"/>
                </a:lnTo>
                <a:lnTo>
                  <a:pt x="6357668" y="719667"/>
                </a:lnTo>
                <a:lnTo>
                  <a:pt x="0" y="719667"/>
                </a:lnTo>
                <a:lnTo>
                  <a:pt x="0" y="0"/>
                </a:lnTo>
                <a:close/>
              </a:path>
            </a:pathLst>
          </a:custGeom>
          <a:solidFill>
            <a:srgbClr val="1E5BA8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dirty="0" err="1"/>
          </a:p>
        </p:txBody>
      </p:sp>
      <p:sp>
        <p:nvSpPr>
          <p:cNvPr id="1027" name="Title Placeholder 1"/>
          <p:cNvSpPr>
            <a:spLocks noGrp="1"/>
          </p:cNvSpPr>
          <p:nvPr userDrawn="1">
            <p:ph type="title"/>
          </p:nvPr>
        </p:nvSpPr>
        <p:spPr bwMode="auto">
          <a:xfrm>
            <a:off x="258792" y="59267"/>
            <a:ext cx="5905340" cy="55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97231B-8F22-4819-8903-B7FF02180FF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8767" y="158537"/>
            <a:ext cx="2078192" cy="46649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000" b="1" kern="1200" spc="50">
          <a:solidFill>
            <a:schemeClr val="bg1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  <a:cs typeface="Arial" charset="0"/>
        </a:defRPr>
      </a:lvl9pPr>
    </p:titleStyle>
    <p:bodyStyle>
      <a:lvl1pPr marL="342900" indent="-339725" algn="l" rtl="0" eaLnBrk="0" fontAlgn="base" hangingPunct="0">
        <a:spcBef>
          <a:spcPct val="20000"/>
        </a:spcBef>
        <a:spcAft>
          <a:spcPct val="0"/>
        </a:spcAft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Arial" pitchFamily="34" charset="0"/>
        </a:defRPr>
      </a:lvl1pPr>
      <a:lvl2pPr marL="346075" indent="-173038" algn="l" rtl="0" eaLnBrk="0" fontAlgn="base" hangingPunct="0">
        <a:spcBef>
          <a:spcPct val="20000"/>
        </a:spcBef>
        <a:spcAft>
          <a:spcPct val="0"/>
        </a:spcAft>
        <a:buClr>
          <a:srgbClr val="2E6EBC"/>
        </a:buClr>
        <a:buSzPct val="120000"/>
        <a:buFont typeface="Arial" charset="0"/>
        <a:buChar char="•"/>
        <a:defRPr sz="2000" kern="1200">
          <a:solidFill>
            <a:schemeClr val="tx2">
              <a:lumMod val="60000"/>
              <a:lumOff val="40000"/>
            </a:schemeClr>
          </a:solidFill>
          <a:latin typeface="+mn-lt"/>
          <a:ea typeface="+mn-ea"/>
          <a:cs typeface="Arial" pitchFamily="34" charset="0"/>
        </a:defRPr>
      </a:lvl2pPr>
      <a:lvl3pPr marL="573088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kern="1200">
          <a:solidFill>
            <a:schemeClr val="bg1">
              <a:lumMod val="50000"/>
            </a:schemeClr>
          </a:solidFill>
          <a:latin typeface="+mn-lt"/>
          <a:ea typeface="+mn-ea"/>
          <a:cs typeface="Arial" pitchFamily="34" charset="0"/>
        </a:defRPr>
      </a:lvl3pPr>
      <a:lvl4pPr marL="85725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1600" kern="1200">
          <a:solidFill>
            <a:schemeClr val="bg1">
              <a:lumMod val="65000"/>
            </a:schemeClr>
          </a:solidFill>
          <a:latin typeface="+mn-lt"/>
          <a:ea typeface="+mn-ea"/>
          <a:cs typeface="Arial" pitchFamily="34" charset="0"/>
        </a:defRPr>
      </a:lvl4pPr>
      <a:lvl5pPr marL="1030288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400" kern="1200">
          <a:solidFill>
            <a:schemeClr val="bg1">
              <a:lumMod val="75000"/>
            </a:schemeClr>
          </a:solidFill>
          <a:latin typeface="+mn-lt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5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6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4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5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7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7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4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8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9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0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2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3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4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5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6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7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8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9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Wafer Setup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00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Pad Oxide Deposition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01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SiN hardmask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02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4.1. Photo Resist coating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03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4.2. Expose STI_Trench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04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5.1. SiN hardmask etch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05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5.2. pad oxide Etch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06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5.3. substrate silicon Etch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07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resist removal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08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Thermal Oxidation of opened trench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09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Filling trench with CVD oxide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10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9. STI oxide CMP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11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11. Pad_oxide ramoval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  <a:p>
            <a:r>
              <a:t>Unknown Step Properties: </a:t>
            </a:r>
          </a:p>
          <a:p>
            <a:r>
              <a:t>name: hdm</a:t>
            </a:r>
          </a:p>
          <a:p>
            <a:r>
              <a:t>Num. of attributes: 3</a:t>
            </a:r>
          </a:p>
          <a:p>
            <a:r>
              <a:t>	VersionNumber : 12.2.0.0</a:t>
            </a:r>
          </a:p>
          <a:p>
            <a:r>
              <a:t>	uiHidden : true</a:t>
            </a:r>
          </a:p>
          <a:p>
            <a:r>
              <a:t>	uiHideChildNodes : true</a:t>
            </a:r>
          </a:p>
          <a:p>
            <a:r>
              <a:t>name: simultaneousDeposit</a:t>
            </a:r>
          </a:p>
          <a:p>
            <a:r>
              <a:t>Num. of attributes: 1</a:t>
            </a:r>
          </a:p>
          <a:p>
            <a:r>
              <a:t>	isEnable : false</a:t>
            </a:r>
          </a:p>
          <a:p>
            <a:r>
              <a:t>name: depositMaterial</a:t>
            </a:r>
          </a:p>
          <a:p>
            <a:r>
              <a:t>Num. of attributes: 3</a:t>
            </a:r>
          </a:p>
          <a:p>
            <a:r>
              <a:t>	VersionNumber : 12.2.0.0</a:t>
            </a:r>
          </a:p>
          <a:p>
            <a:r>
              <a:t>	readonly : true</a:t>
            </a:r>
          </a:p>
          <a:p>
            <a:r>
              <a:t>	uiHideChildNodes : true</a:t>
            </a:r>
          </a:p>
          <a:p>
            <a:r>
              <a:t>name: depositRatio</a:t>
            </a:r>
          </a:p>
          <a:p>
            <a:r>
              <a:t>Num. of attributes: 5</a:t>
            </a:r>
          </a:p>
          <a:p>
            <a:r>
              <a:t>	___expression : </a:t>
            </a:r>
          </a:p>
          <a:p>
            <a:r>
              <a:t>	___lastKnownValue : nan.0</a:t>
            </a:r>
          </a:p>
          <a:p>
            <a:r>
              <a:t>	___unitConversionExpr : </a:t>
            </a:r>
          </a:p>
          <a:p>
            <a:r>
              <a:t>	___unitName : nounit</a:t>
            </a:r>
          </a:p>
          <a:p>
            <a:r>
              <a:t>	readonly : true</a:t>
            </a:r>
          </a:p>
          <a:p>
            <a:r>
              <a:t>name: depositIsotropicRatio</a:t>
            </a:r>
          </a:p>
          <a:p>
            <a:r>
              <a:t>Num. of attributes: 5</a:t>
            </a:r>
          </a:p>
          <a:p>
            <a:r>
              <a:t>	___expression : 0</a:t>
            </a:r>
          </a:p>
          <a:p>
            <a:r>
              <a:t>	___lastKnownValue : 0.0</a:t>
            </a:r>
          </a:p>
          <a:p>
            <a:r>
              <a:t>	___unitConversionExpr : </a:t>
            </a:r>
          </a:p>
          <a:p>
            <a:r>
              <a:t>	___unitName : nounit</a:t>
            </a:r>
          </a:p>
          <a:p>
            <a:r>
              <a:t>	readonly : true</a:t>
            </a:r>
          </a:p>
          <a:p>
            <a:r>
              <a:t>name: depositLateralRatio</a:t>
            </a:r>
          </a:p>
          <a:p>
            <a:r>
              <a:t>Num. of attributes: 5</a:t>
            </a:r>
          </a:p>
          <a:p>
            <a:r>
              <a:t>	___expression : 1</a:t>
            </a:r>
          </a:p>
          <a:p>
            <a:r>
              <a:t>	___lastKnownValue : 1.0</a:t>
            </a:r>
          </a:p>
          <a:p>
            <a:r>
              <a:t>	___unitConversionExpr : </a:t>
            </a:r>
          </a:p>
          <a:p>
            <a:r>
              <a:t>	___unitName : nounit</a:t>
            </a:r>
          </a:p>
          <a:p>
            <a:r>
              <a:t>	readonly : true</a:t>
            </a:r>
          </a:p>
          <a:p>
            <a:r>
              <a:t>name: depositSourceSigma</a:t>
            </a:r>
          </a:p>
          <a:p>
            <a:r>
              <a:t>Num. of attributes: 5</a:t>
            </a:r>
          </a:p>
          <a:p>
            <a:r>
              <a:t>	___expression : 100.0</a:t>
            </a:r>
          </a:p>
          <a:p>
            <a:r>
              <a:t>	___lastKnownValue : 100.0</a:t>
            </a:r>
          </a:p>
          <a:p>
            <a:r>
              <a:t>	___unitConversionExpr : </a:t>
            </a:r>
          </a:p>
          <a:p>
            <a:r>
              <a:t>	___unitName : nounit</a:t>
            </a:r>
          </a:p>
          <a:p>
            <a:r>
              <a:t>	readonly : true</a:t>
            </a:r>
          </a:p>
          <a:p>
            <a:r>
              <a:t>name: depositTransport</a:t>
            </a:r>
          </a:p>
          <a:p>
            <a:r>
              <a:t>Num. of attributes: 2</a:t>
            </a:r>
          </a:p>
          <a:p>
            <a:r>
              <a:t>	isEnable : false</a:t>
            </a:r>
          </a:p>
          <a:p>
            <a:r>
              <a:t>	readonly : true</a:t>
            </a:r>
          </a:p>
          <a:p>
            <a:r>
              <a:t>name: conformality</a:t>
            </a:r>
          </a:p>
          <a:p>
            <a:r>
              <a:t>Num. of attributes: 5</a:t>
            </a:r>
          </a:p>
          <a:p>
            <a:r>
              <a:t>	___expression : 0.1</a:t>
            </a:r>
          </a:p>
          <a:p>
            <a:r>
              <a:t>	___lastKnownValue : 0.1</a:t>
            </a:r>
          </a:p>
          <a:p>
            <a:r>
              <a:t>	___unitConversionExpr : </a:t>
            </a:r>
          </a:p>
          <a:p>
            <a:r>
              <a:t>	___unitName : nounit</a:t>
            </a:r>
          </a:p>
          <a:p>
            <a:r>
              <a:t>	readonly : true</a:t>
            </a:r>
          </a:p>
          <a:p>
            <a:r>
              <a:t>name: depositTiltAndTwist</a:t>
            </a:r>
          </a:p>
          <a:p>
            <a:r>
              <a:t>Num. of attributes: 2</a:t>
            </a:r>
          </a:p>
          <a:p>
            <a:r>
              <a:t>	___activeMember : sameAsEtch </a:t>
            </a:r>
          </a:p>
          <a:p>
            <a:r>
              <a:t>	readonly : true</a:t>
            </a:r>
          </a:p>
          <a:p>
            <a:r>
              <a:t>name: sameAsEtch</a:t>
            </a:r>
          </a:p>
          <a:p>
            <a:r>
              <a:t>Num. of attributes: 2</a:t>
            </a:r>
          </a:p>
          <a:p>
            <a:r>
              <a:t>	isEnable : true</a:t>
            </a:r>
          </a:p>
          <a:p>
            <a:r>
              <a:t>	readonly : true</a:t>
            </a:r>
          </a:p>
          <a:p>
            <a:r>
              <a:t>name: fixed</a:t>
            </a:r>
          </a:p>
          <a:p>
            <a:r>
              <a:t>Num. of attributes: 1</a:t>
            </a:r>
          </a:p>
          <a:p>
            <a:r>
              <a:t>	isEnable : true</a:t>
            </a:r>
          </a:p>
          <a:p>
            <a:r>
              <a:t>name: tilt</a:t>
            </a:r>
          </a:p>
          <a:p>
            <a:r>
              <a:t>Num. of attributes: 4</a:t>
            </a:r>
          </a:p>
          <a:p>
            <a:r>
              <a:t>	___expression : 0</a:t>
            </a:r>
          </a:p>
          <a:p>
            <a:r>
              <a:t>	___lastKnownValue : 0.0</a:t>
            </a:r>
          </a:p>
          <a:p>
            <a:r>
              <a:t>	___unitConversionExpr : </a:t>
            </a:r>
          </a:p>
          <a:p>
            <a:r>
              <a:t>	___unitName : nounit</a:t>
            </a:r>
          </a:p>
          <a:p>
            <a:r>
              <a:t>name: twist</a:t>
            </a:r>
          </a:p>
          <a:p>
            <a:r>
              <a:t>Num. of attributes: 4</a:t>
            </a:r>
          </a:p>
          <a:p>
            <a:r>
              <a:t>	___expression : 0</a:t>
            </a:r>
          </a:p>
          <a:p>
            <a:r>
              <a:t>	___lastKnownValue : 0.0</a:t>
            </a:r>
          </a:p>
          <a:p>
            <a:r>
              <a:t>	___unitConversionExpr : </a:t>
            </a:r>
          </a:p>
          <a:p>
            <a:r>
              <a:t>	___unitName : nounit</a:t>
            </a:r>
          </a:p>
          <a:p>
            <a:r>
              <a:t>name: rotating</a:t>
            </a:r>
          </a:p>
          <a:p>
            <a:r>
              <a:t>Num. of attributes: 1</a:t>
            </a:r>
          </a:p>
          <a:p>
            <a:r>
              <a:t>	isEnable : true</a:t>
            </a:r>
          </a:p>
          <a:p>
            <a:r>
              <a:t>name: tilt</a:t>
            </a:r>
          </a:p>
          <a:p>
            <a:r>
              <a:t>Num. of attributes: 4</a:t>
            </a:r>
          </a:p>
          <a:p>
            <a:r>
              <a:t>	___expression : 0</a:t>
            </a:r>
          </a:p>
          <a:p>
            <a:r>
              <a:t>	___lastKnownValue : 0.0</a:t>
            </a:r>
          </a:p>
          <a:p>
            <a:r>
              <a:t>	___unitConversionExpr : </a:t>
            </a:r>
          </a:p>
          <a:p>
            <a:r>
              <a:t>	___unitName : nounit</a:t>
            </a:r>
          </a:p>
          <a:p>
            <a:r>
              <a:t>name: transport</a:t>
            </a:r>
          </a:p>
          <a:p>
            <a:r>
              <a:t>Num. of attributes: 1</a:t>
            </a:r>
          </a:p>
          <a:p>
            <a:r>
              <a:t>	isEnable : false</a:t>
            </a:r>
          </a:p>
          <a:p>
            <a:r>
              <a:t>name: conformality</a:t>
            </a:r>
          </a:p>
          <a:p>
            <a:r>
              <a:t>Num. of attributes: 5</a:t>
            </a:r>
          </a:p>
          <a:p>
            <a:r>
              <a:t>	___expression : 0.1</a:t>
            </a:r>
          </a:p>
          <a:p>
            <a:r>
              <a:t>	___lastKnownValue : 0.1</a:t>
            </a:r>
          </a:p>
          <a:p>
            <a:r>
              <a:t>	___unitConversionExpr : </a:t>
            </a:r>
          </a:p>
          <a:p>
            <a:r>
              <a:t>	___unitName : nounit</a:t>
            </a:r>
          </a:p>
          <a:p>
            <a:r>
              <a:t>	readonly : true</a:t>
            </a:r>
          </a:p>
          <a:p/>
        </p:txBody>
      </p:sp>
      <p:pic>
        <p:nvPicPr>
          <p:cNvPr id="4" name="Picture Placeholder 3" descr="frame00012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12.1. Thermal Oxide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13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12.2. High-K_dielectric_deposition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14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12.3. Gate_Poly_Silicon_Deposition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15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12.4. Planar Deposit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16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12.5. Expose Material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17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12.6. Basic Etch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18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12.7. Basic Etch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19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12.8. resist removal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20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12.9. Conformal Deposit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21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12.10. Basic Etch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22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13.1. Planar Deposit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23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13.2. Expose Material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24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13.3. Implant (Requires Advanced Modeling)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24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13.4. resist removal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22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13.5. Planar Deposit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23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13.6. Expose Material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28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13.7. Implant (Requires Advanced Modeling)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28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13.8. resist removal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22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13.9. Diffusion (Requires Advanced Modeling)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31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14.1. Conformal Deposit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32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14.2. STI oxide CMP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33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15.3. Poly Pull Etch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34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15.5. Conformal Deposit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35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15.6. Planar Deposit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36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15.7. Expose Material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37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15.8. Basic Etch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38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15.9. resist removal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39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16.5. Conformal Deposit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40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16.6. Planar Deposit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41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16.7. Stopping CMP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42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17. Diffusion (Requires Advanced Modeling)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43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ysClr val="windowText" lastClr="000000"/>
      </a:dk1>
      <a:lt1>
        <a:sysClr val="window" lastClr="FFFFFF"/>
      </a:lt1>
      <a:dk2>
        <a:srgbClr val="2D2F2B"/>
      </a:dk2>
      <a:lt2>
        <a:srgbClr val="DEDED7"/>
      </a:lt2>
      <a:accent1>
        <a:srgbClr val="294171"/>
      </a:accent1>
      <a:accent2>
        <a:srgbClr val="748CBC"/>
      </a:accent2>
      <a:accent3>
        <a:srgbClr val="558E24"/>
      </a:accent3>
      <a:accent4>
        <a:srgbClr val="834736"/>
      </a:accent4>
      <a:accent5>
        <a:srgbClr val="5A1705"/>
      </a:accent5>
      <a:accent6>
        <a:srgbClr val="A0A16A"/>
      </a:accent6>
      <a:hlink>
        <a:srgbClr val="74B6BC"/>
      </a:hlink>
      <a:folHlink>
        <a:srgbClr val="7F95A4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28575">
          <a:solidFill>
            <a:schemeClr val="accent1"/>
          </a:solidFill>
        </a:ln>
      </a:spPr>
      <a:bodyPr rtlCol="0" anchor="t"/>
      <a:lstStyle>
        <a:defPPr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69953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3" baseType="lpstr">
      <vt:lpstr>Arial</vt:lpstr>
      <vt:lpstr>Calibri</vt:lpstr>
      <vt:lpstr>Office Theme</vt:lpstr>
    </vt:vector>
  </TitlesOfParts>
  <Company>Coventor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Stephen Breit</dc:creator>
  <cp:lastModifiedBy>Levin, Mikhail</cp:lastModifiedBy>
  <cp:revision>627</cp:revision>
  <cp:lastPrinted>2017-02-23T13:47:46Z</cp:lastPrinted>
  <dcterms:created xsi:type="dcterms:W3CDTF">2011-03-11T14:45:57Z</dcterms:created>
  <dcterms:modified xsi:type="dcterms:W3CDTF">2018-05-29T18:52:39Z</dcterms:modified>
</cp:coreProperties>
</file>